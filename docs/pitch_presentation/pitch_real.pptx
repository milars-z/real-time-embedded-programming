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84" y="4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12EE9DA-5F81-30C6-A2E3-E07E75432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687" y="1295400"/>
            <a:ext cx="6208430" cy="468145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769EABA-79EE-0824-E731-8B23D85AC83E}"/>
              </a:ext>
            </a:extLst>
          </p:cNvPr>
          <p:cNvSpPr txBox="1"/>
          <p:nvPr/>
        </p:nvSpPr>
        <p:spPr>
          <a:xfrm>
            <a:off x="8236527" y="2081856"/>
            <a:ext cx="2722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19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3F3FCD-19C2-B588-4F4D-BF09333A7846}"/>
              </a:ext>
            </a:extLst>
          </p:cNvPr>
          <p:cNvSpPr txBox="1"/>
          <p:nvPr/>
        </p:nvSpPr>
        <p:spPr>
          <a:xfrm>
            <a:off x="8236527" y="2605076"/>
            <a:ext cx="2722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CogniArm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C8DC91D-201F-1246-C70E-28CE07678FCD}"/>
              </a:ext>
            </a:extLst>
          </p:cNvPr>
          <p:cNvSpPr txBox="1"/>
          <p:nvPr/>
        </p:nvSpPr>
        <p:spPr>
          <a:xfrm>
            <a:off x="9424554" y="5366818"/>
            <a:ext cx="30687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Ziyin Zeng(3113788Z) </a:t>
            </a:r>
            <a:r>
              <a:rPr lang="en-US" altLang="zh-CN" dirty="0" err="1"/>
              <a:t>Shantong</a:t>
            </a:r>
            <a:r>
              <a:rPr lang="en-US" altLang="zh-CN" dirty="0"/>
              <a:t> Wang(3108877W) Longyi Chen(3169503C) </a:t>
            </a:r>
            <a:r>
              <a:rPr lang="en-US" altLang="zh-CN" dirty="0" err="1"/>
              <a:t>Dingyan</a:t>
            </a:r>
            <a:r>
              <a:rPr lang="en-US" altLang="zh-CN" dirty="0"/>
              <a:t> Guo(3075250G)</a:t>
            </a:r>
          </a:p>
          <a:p>
            <a:r>
              <a:rPr lang="en-US" altLang="zh-CN" dirty="0"/>
              <a:t>Hang Liu(3075147L)</a:t>
            </a:r>
            <a:endParaRPr lang="zh-CN" altLang="en-US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E54C2A4-BE55-2C07-0852-8DBF30631E91}"/>
              </a:ext>
            </a:extLst>
          </p:cNvPr>
          <p:cNvGrpSpPr/>
          <p:nvPr/>
        </p:nvGrpSpPr>
        <p:grpSpPr>
          <a:xfrm>
            <a:off x="1316181" y="1295400"/>
            <a:ext cx="5334000" cy="914400"/>
            <a:chOff x="1316181" y="1295400"/>
            <a:chExt cx="5334000" cy="914400"/>
          </a:xfrm>
        </p:grpSpPr>
        <p:pic>
          <p:nvPicPr>
            <p:cNvPr id="11" name="图形 10" descr="3D 眼镜 纯色填充">
              <a:extLst>
                <a:ext uri="{FF2B5EF4-FFF2-40B4-BE49-F238E27FC236}">
                  <a16:creationId xmlns:a16="http://schemas.microsoft.com/office/drawing/2014/main" id="{ECD7ACE3-6D7D-F1DC-3186-FEC7FFC64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16181" y="1295400"/>
              <a:ext cx="914400" cy="914400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7CD23C6-945C-F605-3E01-B5F10954F1E0}"/>
                </a:ext>
              </a:extLst>
            </p:cNvPr>
            <p:cNvSpPr txBox="1"/>
            <p:nvPr/>
          </p:nvSpPr>
          <p:spPr>
            <a:xfrm>
              <a:off x="2657407" y="1378803"/>
              <a:ext cx="39927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Computer Vision for object learning and retrieval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514F0C0-3D68-C75E-CF2D-B11A5C9BCCE7}"/>
              </a:ext>
            </a:extLst>
          </p:cNvPr>
          <p:cNvGrpSpPr/>
          <p:nvPr/>
        </p:nvGrpSpPr>
        <p:grpSpPr>
          <a:xfrm>
            <a:off x="1316181" y="2514600"/>
            <a:ext cx="4987637" cy="921473"/>
            <a:chOff x="1316181" y="2514600"/>
            <a:chExt cx="4987637" cy="921473"/>
          </a:xfrm>
        </p:grpSpPr>
        <p:pic>
          <p:nvPicPr>
            <p:cNvPr id="15" name="图形 14" descr="语音 轮廓">
              <a:extLst>
                <a:ext uri="{FF2B5EF4-FFF2-40B4-BE49-F238E27FC236}">
                  <a16:creationId xmlns:a16="http://schemas.microsoft.com/office/drawing/2014/main" id="{2A47DEEC-3AC1-7941-BAE7-354075A764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16181" y="2514600"/>
              <a:ext cx="914400" cy="914400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6D9D27F-2755-37ED-61D3-4DCDDBD782AD}"/>
                </a:ext>
              </a:extLst>
            </p:cNvPr>
            <p:cNvSpPr txBox="1"/>
            <p:nvPr/>
          </p:nvSpPr>
          <p:spPr>
            <a:xfrm>
              <a:off x="2657407" y="2605076"/>
              <a:ext cx="364641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Voice Recognition for user commands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B1AFE1B-3B18-95E3-E4C8-8D475E6B02A0}"/>
              </a:ext>
            </a:extLst>
          </p:cNvPr>
          <p:cNvGrpSpPr/>
          <p:nvPr/>
        </p:nvGrpSpPr>
        <p:grpSpPr>
          <a:xfrm>
            <a:off x="1316181" y="3794076"/>
            <a:ext cx="4170219" cy="944178"/>
            <a:chOff x="1316181" y="3794076"/>
            <a:chExt cx="4170219" cy="944178"/>
          </a:xfrm>
        </p:grpSpPr>
        <p:pic>
          <p:nvPicPr>
            <p:cNvPr id="18" name="图形 17" descr="人工智能 轮廓">
              <a:extLst>
                <a:ext uri="{FF2B5EF4-FFF2-40B4-BE49-F238E27FC236}">
                  <a16:creationId xmlns:a16="http://schemas.microsoft.com/office/drawing/2014/main" id="{F4094398-1D0F-E853-EF82-3873CB4C9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16181" y="3823854"/>
              <a:ext cx="914400" cy="914400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59F3D29-FBDE-3C17-3C20-CAB78DBEF611}"/>
                </a:ext>
              </a:extLst>
            </p:cNvPr>
            <p:cNvSpPr txBox="1"/>
            <p:nvPr/>
          </p:nvSpPr>
          <p:spPr>
            <a:xfrm>
              <a:off x="2657407" y="3794076"/>
              <a:ext cx="282899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AI Engine for feature extraction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2DCE751-4848-DE49-3476-DADE030A1C6C}"/>
              </a:ext>
            </a:extLst>
          </p:cNvPr>
          <p:cNvGrpSpPr/>
          <p:nvPr/>
        </p:nvGrpSpPr>
        <p:grpSpPr>
          <a:xfrm>
            <a:off x="1316181" y="5008418"/>
            <a:ext cx="4170218" cy="914400"/>
            <a:chOff x="1316181" y="5008418"/>
            <a:chExt cx="4170218" cy="914400"/>
          </a:xfrm>
        </p:grpSpPr>
        <p:pic>
          <p:nvPicPr>
            <p:cNvPr id="24" name="图形 23" descr="数据库 轮廓">
              <a:extLst>
                <a:ext uri="{FF2B5EF4-FFF2-40B4-BE49-F238E27FC236}">
                  <a16:creationId xmlns:a16="http://schemas.microsoft.com/office/drawing/2014/main" id="{6050D2B1-3067-91D2-3334-A64C4EDB3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316181" y="5008418"/>
              <a:ext cx="914400" cy="914400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1FF7ADD1-BE2D-D59E-879C-523900EDD1A8}"/>
                </a:ext>
              </a:extLst>
            </p:cNvPr>
            <p:cNvSpPr txBox="1"/>
            <p:nvPr/>
          </p:nvSpPr>
          <p:spPr>
            <a:xfrm>
              <a:off x="2657406" y="5008418"/>
              <a:ext cx="282899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File System for learning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4596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E953B03-B22A-19C8-1E03-3A1D46BA72CC}"/>
              </a:ext>
            </a:extLst>
          </p:cNvPr>
          <p:cNvSpPr txBox="1"/>
          <p:nvPr/>
        </p:nvSpPr>
        <p:spPr>
          <a:xfrm>
            <a:off x="429489" y="270141"/>
            <a:ext cx="288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system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B37F0D10-615D-781B-19E7-95FBF4D98C9F}"/>
              </a:ext>
            </a:extLst>
          </p:cNvPr>
          <p:cNvGrpSpPr/>
          <p:nvPr/>
        </p:nvGrpSpPr>
        <p:grpSpPr>
          <a:xfrm>
            <a:off x="561109" y="1129145"/>
            <a:ext cx="4336473" cy="4262572"/>
            <a:chOff x="561109" y="1129145"/>
            <a:chExt cx="4336473" cy="4262572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3551678-C09E-EFB7-98DB-B1D16DDC7BEA}"/>
                </a:ext>
              </a:extLst>
            </p:cNvPr>
            <p:cNvSpPr/>
            <p:nvPr/>
          </p:nvSpPr>
          <p:spPr>
            <a:xfrm>
              <a:off x="561109" y="1129145"/>
              <a:ext cx="4336473" cy="378229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5CE56B5-6C1F-2E5A-233D-63FB5C02DE08}"/>
                </a:ext>
              </a:extLst>
            </p:cNvPr>
            <p:cNvSpPr/>
            <p:nvPr/>
          </p:nvSpPr>
          <p:spPr>
            <a:xfrm>
              <a:off x="1420091" y="1288473"/>
              <a:ext cx="2563091" cy="457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i="0" dirty="0">
                  <a:solidFill>
                    <a:srgbClr val="E2E2E5"/>
                  </a:solidFill>
                  <a:effectLst/>
                  <a:latin typeface="Inter"/>
                </a:rPr>
                <a:t>Multithread</a:t>
              </a:r>
              <a:endParaRPr lang="zh-CN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2DFC167-7FDF-C2EA-43F1-EE2C97EC7D4C}"/>
                </a:ext>
              </a:extLst>
            </p:cNvPr>
            <p:cNvSpPr/>
            <p:nvPr/>
          </p:nvSpPr>
          <p:spPr>
            <a:xfrm>
              <a:off x="810491" y="2066812"/>
              <a:ext cx="3886200" cy="4572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i="0" dirty="0">
                  <a:solidFill>
                    <a:schemeClr val="tx1"/>
                  </a:solidFill>
                  <a:effectLst/>
                  <a:latin typeface="Inter"/>
                </a:rPr>
                <a:t>Hardware Control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8E78DD1-F22D-95B6-5F68-A8DF63032B35}"/>
                </a:ext>
              </a:extLst>
            </p:cNvPr>
            <p:cNvSpPr/>
            <p:nvPr/>
          </p:nvSpPr>
          <p:spPr>
            <a:xfrm>
              <a:off x="824344" y="2852943"/>
              <a:ext cx="3886200" cy="4572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i="0" dirty="0" err="1">
                  <a:solidFill>
                    <a:schemeClr val="tx1"/>
                  </a:solidFill>
                  <a:effectLst/>
                  <a:latin typeface="Inter"/>
                </a:rPr>
                <a:t>Vision</a:t>
              </a:r>
              <a:r>
                <a:rPr lang="en-US" altLang="zh-CN" b="1" dirty="0" err="1">
                  <a:solidFill>
                    <a:schemeClr val="tx1"/>
                  </a:solidFill>
                </a:rPr>
                <a:t>|Voice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1D6AB34-FF60-A477-4109-39678E0AB169}"/>
                </a:ext>
              </a:extLst>
            </p:cNvPr>
            <p:cNvSpPr/>
            <p:nvPr/>
          </p:nvSpPr>
          <p:spPr>
            <a:xfrm>
              <a:off x="810491" y="3667910"/>
              <a:ext cx="3886200" cy="4572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SQL | Knowledge 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00992D0-6E66-7510-D884-FAF27BF5E768}"/>
                </a:ext>
              </a:extLst>
            </p:cNvPr>
            <p:cNvSpPr txBox="1"/>
            <p:nvPr/>
          </p:nvSpPr>
          <p:spPr>
            <a:xfrm>
              <a:off x="2525312" y="3687757"/>
              <a:ext cx="553998" cy="170396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zh-CN" sz="2400" dirty="0"/>
                <a:t>…..</a:t>
              </a:r>
              <a:endParaRPr lang="zh-CN" altLang="en-US" sz="2400" dirty="0"/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2645AC54-4E22-10B2-EA8E-0B2C4534F3AF}"/>
              </a:ext>
            </a:extLst>
          </p:cNvPr>
          <p:cNvGrpSpPr/>
          <p:nvPr/>
        </p:nvGrpSpPr>
        <p:grpSpPr>
          <a:xfrm>
            <a:off x="6205822" y="921418"/>
            <a:ext cx="4885858" cy="1645704"/>
            <a:chOff x="6205822" y="921418"/>
            <a:chExt cx="4885858" cy="1645704"/>
          </a:xfrm>
        </p:grpSpPr>
        <p:pic>
          <p:nvPicPr>
            <p:cNvPr id="17" name="图形 16" descr="男程序员 轮廓">
              <a:extLst>
                <a:ext uri="{FF2B5EF4-FFF2-40B4-BE49-F238E27FC236}">
                  <a16:creationId xmlns:a16="http://schemas.microsoft.com/office/drawing/2014/main" id="{D6106791-A5C3-E099-D6DD-E8BA5FA81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08846" y="1499965"/>
              <a:ext cx="914400" cy="914400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B517225-9D99-2DDB-D39A-BB6EF0BB64AF}"/>
                </a:ext>
              </a:extLst>
            </p:cNvPr>
            <p:cNvSpPr txBox="1"/>
            <p:nvPr/>
          </p:nvSpPr>
          <p:spPr>
            <a:xfrm>
              <a:off x="6406715" y="921418"/>
              <a:ext cx="36528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1. Traditional motion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E9BE7E5A-6EBD-D02E-BC6B-798B10103647}"/>
                </a:ext>
              </a:extLst>
            </p:cNvPr>
            <p:cNvSpPr txBox="1"/>
            <p:nvPr/>
          </p:nvSpPr>
          <p:spPr>
            <a:xfrm>
              <a:off x="7524137" y="1765406"/>
              <a:ext cx="277783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C++ Real-time Kernel &amp; IK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28458316-7523-522C-4ED4-43578731AF42}"/>
                </a:ext>
              </a:extLst>
            </p:cNvPr>
            <p:cNvSpPr/>
            <p:nvPr/>
          </p:nvSpPr>
          <p:spPr>
            <a:xfrm>
              <a:off x="6205822" y="969817"/>
              <a:ext cx="4885858" cy="159730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E17C6343-D4E4-A40B-B3D5-78EC88695F62}"/>
              </a:ext>
            </a:extLst>
          </p:cNvPr>
          <p:cNvGrpSpPr/>
          <p:nvPr/>
        </p:nvGrpSpPr>
        <p:grpSpPr>
          <a:xfrm>
            <a:off x="6205822" y="2562663"/>
            <a:ext cx="5225297" cy="1597305"/>
            <a:chOff x="6205822" y="2562663"/>
            <a:chExt cx="5225297" cy="1597305"/>
          </a:xfrm>
        </p:grpSpPr>
        <p:pic>
          <p:nvPicPr>
            <p:cNvPr id="15" name="图形 14" descr="语音 轮廓">
              <a:extLst>
                <a:ext uri="{FF2B5EF4-FFF2-40B4-BE49-F238E27FC236}">
                  <a16:creationId xmlns:a16="http://schemas.microsoft.com/office/drawing/2014/main" id="{32968CBF-0F56-8E41-B72A-20A9076D4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51296" y="3108501"/>
              <a:ext cx="914400" cy="914400"/>
            </a:xfrm>
            <a:prstGeom prst="rect">
              <a:avLst/>
            </a:prstGeom>
          </p:spPr>
        </p:pic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78EE39C-715A-C39F-47E0-15053B448A93}"/>
                </a:ext>
              </a:extLst>
            </p:cNvPr>
            <p:cNvSpPr txBox="1"/>
            <p:nvPr/>
          </p:nvSpPr>
          <p:spPr>
            <a:xfrm>
              <a:off x="6406714" y="2567122"/>
              <a:ext cx="46849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2. Intelligent Interaction 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5075A8D-E968-FA9E-1201-9D125E368FC8}"/>
                </a:ext>
              </a:extLst>
            </p:cNvPr>
            <p:cNvSpPr txBox="1"/>
            <p:nvPr/>
          </p:nvSpPr>
          <p:spPr>
            <a:xfrm>
              <a:off x="7524137" y="3356575"/>
              <a:ext cx="39069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Async Voice Command Processing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72EA816D-7E1C-041E-3039-1C1D52891D73}"/>
                </a:ext>
              </a:extLst>
            </p:cNvPr>
            <p:cNvSpPr/>
            <p:nvPr/>
          </p:nvSpPr>
          <p:spPr>
            <a:xfrm>
              <a:off x="6205822" y="2562663"/>
              <a:ext cx="4885858" cy="159730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546D4860-1BA7-0968-002B-8CDA69A74EE8}"/>
              </a:ext>
            </a:extLst>
          </p:cNvPr>
          <p:cNvGrpSpPr/>
          <p:nvPr/>
        </p:nvGrpSpPr>
        <p:grpSpPr>
          <a:xfrm>
            <a:off x="6205822" y="4096187"/>
            <a:ext cx="4885858" cy="2113827"/>
            <a:chOff x="6205822" y="4096187"/>
            <a:chExt cx="4885858" cy="2113827"/>
          </a:xfrm>
        </p:grpSpPr>
        <p:pic>
          <p:nvPicPr>
            <p:cNvPr id="21" name="图形 20" descr="图像 轮廓">
              <a:extLst>
                <a:ext uri="{FF2B5EF4-FFF2-40B4-BE49-F238E27FC236}">
                  <a16:creationId xmlns:a16="http://schemas.microsoft.com/office/drawing/2014/main" id="{6C5C0D7B-B18C-9950-137A-ED8F3CFB0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06714" y="5295614"/>
              <a:ext cx="914400" cy="914400"/>
            </a:xfrm>
            <a:prstGeom prst="rect">
              <a:avLst/>
            </a:prstGeom>
          </p:spPr>
        </p:pic>
        <p:pic>
          <p:nvPicPr>
            <p:cNvPr id="22" name="图形 21" descr="语音 轮廓">
              <a:extLst>
                <a:ext uri="{FF2B5EF4-FFF2-40B4-BE49-F238E27FC236}">
                  <a16:creationId xmlns:a16="http://schemas.microsoft.com/office/drawing/2014/main" id="{2A88DAF2-8183-7ADC-3153-5C6B9C6D8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06714" y="4469804"/>
              <a:ext cx="914400" cy="914400"/>
            </a:xfrm>
            <a:prstGeom prst="rect">
              <a:avLst/>
            </a:prstGeom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5757B2A-0628-04D8-3CA0-3CBAAD237272}"/>
                </a:ext>
              </a:extLst>
            </p:cNvPr>
            <p:cNvSpPr txBox="1"/>
            <p:nvPr/>
          </p:nvSpPr>
          <p:spPr>
            <a:xfrm>
              <a:off x="6406713" y="4096187"/>
              <a:ext cx="46849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3. Cognitive Perception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65E9C85-3319-C353-4FB4-12FFFC8EAE9D}"/>
                </a:ext>
              </a:extLst>
            </p:cNvPr>
            <p:cNvSpPr txBox="1"/>
            <p:nvPr/>
          </p:nvSpPr>
          <p:spPr>
            <a:xfrm>
              <a:off x="7551844" y="5168987"/>
              <a:ext cx="27501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Vision-Voice &amp; Learning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D06326AB-F221-3CDA-EABD-CB22C4F2D15B}"/>
                </a:ext>
              </a:extLst>
            </p:cNvPr>
            <p:cNvSpPr/>
            <p:nvPr/>
          </p:nvSpPr>
          <p:spPr>
            <a:xfrm>
              <a:off x="6205822" y="4161251"/>
              <a:ext cx="4885858" cy="204876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C715593F-C71D-DE51-7E1C-75020432E74C}"/>
              </a:ext>
            </a:extLst>
          </p:cNvPr>
          <p:cNvSpPr txBox="1"/>
          <p:nvPr/>
        </p:nvSpPr>
        <p:spPr>
          <a:xfrm>
            <a:off x="5600751" y="24579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CogniArm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Evolution from Control to Cognition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85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96</Words>
  <Application>Microsoft Office PowerPoint</Application>
  <PresentationFormat>宽屏</PresentationFormat>
  <Paragraphs>21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Inter</vt:lpstr>
      <vt:lpstr>Arial</vt:lpstr>
      <vt:lpstr>Calibri</vt:lpstr>
      <vt:lpstr>Times New Roman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milars</dc:creator>
  <cp:lastModifiedBy>Ziyin Zeng (student)</cp:lastModifiedBy>
  <cp:revision>5</cp:revision>
  <dcterms:created xsi:type="dcterms:W3CDTF">2023-08-09T12:44:00Z</dcterms:created>
  <dcterms:modified xsi:type="dcterms:W3CDTF">2026-01-28T00:57:07Z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